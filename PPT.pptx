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M Sans SemiBold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66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57015"/>
            <a:ext cx="6296860" cy="2953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Industrial IoT-Based Machine Health Monitoring and Predictive Maintenance System for Early Fault Detection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59372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continuous, intelligent system for monitoring industrial machine health, enabling early fault detection and predictive maintenance — at the heart of Industry 4.0.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15376-8B44-9D38-0A2D-0FA9EDA4EB27}"/>
              </a:ext>
            </a:extLst>
          </p:cNvPr>
          <p:cNvSpPr txBox="1"/>
          <p:nvPr/>
        </p:nvSpPr>
        <p:spPr>
          <a:xfrm>
            <a:off x="10225116" y="6214725"/>
            <a:ext cx="1966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/>
              <a:t>KOTTAKOTA TARUN</a:t>
            </a:r>
            <a:br>
              <a:rPr lang="en-IN"/>
            </a:br>
            <a:r>
              <a:rPr lang="en-IN"/>
              <a:t>323129520079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1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2868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Problem Statement</a:t>
            </a:r>
            <a:endParaRPr lang="en-US" sz="3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263055"/>
            <a:ext cx="6296860" cy="11570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8049" y="144154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Unexpected Failures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88049" y="177135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Machine breakdowns cause production delays, increased maintenance costs, and significant equipment downtime.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554684"/>
            <a:ext cx="6296860" cy="11570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8049" y="273317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Reactive Maintenance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488049" y="306298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Traditional approaches rely on periodic inspections or repairs after failure — not before it.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846314"/>
            <a:ext cx="6296860" cy="115708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8049" y="402480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Fault Blindness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488049" y="435461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Existing methods make it difficult to identify developing faults before they cause equipment failure.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137944"/>
            <a:ext cx="6296860" cy="115708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8049" y="5316438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Industry Need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5488049" y="5646241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Industries require intelligent, continuous machine-condition monitoring to stay competitive and reliable.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19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976140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 </a:t>
            </a: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Industrial IoT-based machine health monitoring and predictive maintenance system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that continuously collects machine operating data using IoT sensors and predictive analytics.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053457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collection of machine operating data via IoT sensors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Predictive analytics to identify abnormal machine behavior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Centralized platform for monitoring machine health across all equipment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Empowers maintenance teams to act </a:t>
            </a: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before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major failures occur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4673997"/>
            <a:ext cx="6903269" cy="1039416"/>
          </a:xfrm>
          <a:prstGeom prst="roundRect">
            <a:avLst>
              <a:gd name="adj" fmla="val 2728"/>
            </a:avLst>
          </a:prstGeom>
          <a:solidFill>
            <a:srgbClr val="D4F7E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960739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4891286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shifts maintenance from reactive to proactive — detecting faults early and preventing costly breakdowns.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982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System Components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07579"/>
            <a:ext cx="1147833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integrates eight key hardware and software components working in concert to deliver continuous machine health intelligence.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61475" y="1383506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791349" y="1513384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503" y="1620540"/>
            <a:ext cx="175414" cy="1754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1349" y="1992511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Vibration Sensors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1349" y="2249091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 mechanical imbalance and bearing faults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40495" y="1383506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6270369" y="1513384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7522" y="1620540"/>
            <a:ext cx="175414" cy="1754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70369" y="1992511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Temperature Sensors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270369" y="2249091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 thermal behavior and overheating risks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61475" y="2643684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791349" y="2773561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503" y="2880717"/>
            <a:ext cx="175414" cy="1754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1349" y="3252688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Current Sensors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91349" y="3509268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Track electrical load and motor performance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40495" y="2643684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270369" y="2773561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7522" y="2880717"/>
            <a:ext cx="175414" cy="1754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70369" y="3252688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IoT Communication Modules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270369" y="3509268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Transmit sensor data reliably to the cloud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61475" y="3903861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791349" y="4033738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8503" y="4140895"/>
            <a:ext cx="175414" cy="1754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1349" y="4512866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Cloud Connectivity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91349" y="4769445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Store and process large volumes of machine data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40495" y="3903861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30" name="Shape 23"/>
          <p:cNvSpPr/>
          <p:nvPr/>
        </p:nvSpPr>
        <p:spPr>
          <a:xfrm>
            <a:off x="6270369" y="4033738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77522" y="4140895"/>
            <a:ext cx="175414" cy="1754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70369" y="4512866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Monitoring Platform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270369" y="4769445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Centralized visibility into all machine health metrics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61475" y="5164038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35" name="Shape 27"/>
          <p:cNvSpPr/>
          <p:nvPr/>
        </p:nvSpPr>
        <p:spPr>
          <a:xfrm>
            <a:off x="791349" y="5293916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8503" y="5401072"/>
            <a:ext cx="175414" cy="17541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91349" y="5773043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Predictive Analytics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791349" y="6029623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Analyze patterns and forecast potential faults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140495" y="5164038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40" name="Shape 31"/>
          <p:cNvSpPr/>
          <p:nvPr/>
        </p:nvSpPr>
        <p:spPr>
          <a:xfrm>
            <a:off x="6270369" y="5293916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77522" y="5401072"/>
            <a:ext cx="175414" cy="175419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270369" y="5773043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Secure User Interface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6270369" y="6029623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Role-based access for maintenance teams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Working Process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175445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94225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 &amp; Alert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86624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Process in Cloud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80110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Transmit Data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725102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Collect Data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943302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end-to-end pipeline moves from raw sensor readings to actionable maintenance alerts — continuously and automatically — ensuring faults are caught at the earliest possible stage before they escalate into costly failures.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265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Machine Health Monitoring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313061"/>
            <a:ext cx="693859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the System Continuously Tracks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1678087"/>
            <a:ext cx="221451" cy="221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1285" y="1673523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Vibration Levels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41285" y="2019498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 mechanical anomalies as they develop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2465090"/>
            <a:ext cx="221451" cy="221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1285" y="2460526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Temperature Trends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141285" y="2806502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Identify overheating patterns over time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3252093"/>
            <a:ext cx="221451" cy="221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1285" y="3247529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Electrical / Current Behavior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141285" y="3593505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Spot motor load irregularities instantly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4039096"/>
            <a:ext cx="221451" cy="221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1285" y="4034532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Machine Health Status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141285" y="4380508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Overall condition score per asset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4826099"/>
            <a:ext cx="221451" cy="221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1285" y="4821535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Equipment Performance &amp; Maintenance History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1141285" y="5167511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Trend analysis and historical fault records</a:t>
            </a:r>
            <a:endParaRPr lang="en-US" sz="11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5613102"/>
            <a:ext cx="221451" cy="221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41285" y="5608538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Fault Alerts</a:t>
            </a:r>
            <a:endParaRPr lang="en-US" sz="1450" dirty="0"/>
          </a:p>
        </p:txBody>
      </p:sp>
      <p:sp>
        <p:nvSpPr>
          <p:cNvPr id="21" name="Text 13"/>
          <p:cNvSpPr/>
          <p:nvPr/>
        </p:nvSpPr>
        <p:spPr>
          <a:xfrm>
            <a:off x="1141285" y="5954514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Immediate notifications when thresholds are breached</a:t>
            </a:r>
            <a:endParaRPr lang="en-US" sz="11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570" y="1488579"/>
            <a:ext cx="3569901" cy="356999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966570" y="5188347"/>
            <a:ext cx="3569901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monitoring creates a live picture of machine condition, enabling teams to identify abnormal conditions the moment they emerge — not after damage has occurred.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5139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Predictive Maintenance and Early Fault Detection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316163"/>
            <a:ext cx="6296860" cy="3690342"/>
          </a:xfrm>
          <a:prstGeom prst="roundRect">
            <a:avLst>
              <a:gd name="adj" fmla="val 768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5233360" y="2316163"/>
            <a:ext cx="3148430" cy="1996380"/>
          </a:xfrm>
          <a:custGeom>
            <a:avLst/>
            <a:gdLst/>
            <a:ahLst/>
            <a:cxnLst/>
            <a:rect l="l" t="t" r="r" b="b"/>
            <a:pathLst>
              <a:path w="3148430" h="1996380">
                <a:moveTo>
                  <a:pt x="23627" y="0"/>
                </a:moveTo>
                <a:lnTo>
                  <a:pt x="3148430" y="0"/>
                </a:lnTo>
                <a:lnTo>
                  <a:pt x="3148430" y="1996380"/>
                </a:lnTo>
                <a:lnTo>
                  <a:pt x="0" y="1996380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5422367" y="2505174"/>
            <a:ext cx="27704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Reactive Maintenance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2367" y="2913856"/>
            <a:ext cx="277041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Fix after failure. High costs, unplanned downtime, and production loss.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381790" y="2316163"/>
            <a:ext cx="3148430" cy="1996380"/>
          </a:xfrm>
          <a:custGeom>
            <a:avLst/>
            <a:gdLst/>
            <a:ahLst/>
            <a:cxnLst/>
            <a:rect l="l" t="t" r="r" b="b"/>
            <a:pathLst>
              <a:path w="3148430" h="1996380">
                <a:moveTo>
                  <a:pt x="0" y="0"/>
                </a:moveTo>
                <a:lnTo>
                  <a:pt x="3124803" y="0"/>
                </a:lnTo>
                <a:arcTo wR="23627" hR="23628" stAng="16200000" swAng="5400000"/>
                <a:lnTo>
                  <a:pt x="3148430" y="1996380"/>
                </a:lnTo>
                <a:lnTo>
                  <a:pt x="0" y="1996380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2316163"/>
            <a:ext cx="25399" cy="1996380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1" name="Text 8"/>
          <p:cNvSpPr/>
          <p:nvPr/>
        </p:nvSpPr>
        <p:spPr>
          <a:xfrm>
            <a:off x="8570797" y="2505174"/>
            <a:ext cx="27704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Periodic Maintenance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70797" y="2913856"/>
            <a:ext cx="277041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Scheduled inspections regardless of actual machine condition. Inefficient and often too late.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4312543"/>
            <a:ext cx="6296860" cy="1693962"/>
          </a:xfrm>
          <a:custGeom>
            <a:avLst/>
            <a:gdLst/>
            <a:ahLst/>
            <a:cxnLst/>
            <a:rect l="l" t="t" r="r" b="b"/>
            <a:pathLst>
              <a:path w="6296860" h="1693962">
                <a:moveTo>
                  <a:pt x="0" y="0"/>
                </a:moveTo>
                <a:lnTo>
                  <a:pt x="6296860" y="0"/>
                </a:lnTo>
                <a:lnTo>
                  <a:pt x="6296860" y="1670334"/>
                </a:lnTo>
                <a:arcTo wR="23627" hR="23628" stAng="0" swAng="5400000"/>
                <a:lnTo>
                  <a:pt x="23627" y="1693962"/>
                </a:lnTo>
                <a:arcTo wR="23627" hR="23628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3360" y="4312543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5" name="Text 12"/>
          <p:cNvSpPr/>
          <p:nvPr/>
        </p:nvSpPr>
        <p:spPr>
          <a:xfrm>
            <a:off x="5422367" y="4501555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C977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Predictive Maintenance ✓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422367" y="4910237"/>
            <a:ext cx="59188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Abnormal sensor patterns trigger early warnings. Teams schedule servicing before breakdowns occur — maximizing reliability and efficiency.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Dashboard and Analytics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39006"/>
            <a:ext cx="5874000" cy="58741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72403" y="3200003"/>
            <a:ext cx="476406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Maintenance Teams See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772403" y="3394869"/>
            <a:ext cx="4764068" cy="892671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health status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live condition per asset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Vibration levels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real-time waveform data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Temperature trends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historical and current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Maintenance history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full service log per machine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Fault alerts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prioritized notifications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Equipment performance analytics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KPIs and trends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machine information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live operational data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772403" y="4330005"/>
            <a:ext cx="476406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secure, user-friendly interface consolidates all machine intelligence in one place — enabling maintenance teams to make fast, informed decisions with confidence.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2880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Benefits and Applications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75978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Major Benefits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1475" y="1866305"/>
            <a:ext cx="2556902" cy="1389459"/>
          </a:xfrm>
          <a:prstGeom prst="roundRect">
            <a:avLst>
              <a:gd name="adj" fmla="val 1690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17939" y="2022773"/>
            <a:ext cx="2243974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↓ Unexpected Downtime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7939" y="2641501"/>
            <a:ext cx="22439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Faults caught early prevent unplanned stoppages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47954" y="1866305"/>
            <a:ext cx="2557002" cy="1389459"/>
          </a:xfrm>
          <a:prstGeom prst="roundRect">
            <a:avLst>
              <a:gd name="adj" fmla="val 1690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3504418" y="2022773"/>
            <a:ext cx="22440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↓ Maintenance Costs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04418" y="2396927"/>
            <a:ext cx="22440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Targeted servicing replaces blanket periodic checks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475" y="3385344"/>
            <a:ext cx="2556902" cy="1144885"/>
          </a:xfrm>
          <a:prstGeom prst="roundRect">
            <a:avLst>
              <a:gd name="adj" fmla="val 2051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17939" y="3541812"/>
            <a:ext cx="22439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↑ Equipment Reliability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7939" y="3915966"/>
            <a:ext cx="22439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health tracking extends asset life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47954" y="3385344"/>
            <a:ext cx="2557002" cy="1144885"/>
          </a:xfrm>
          <a:prstGeom prst="roundRect">
            <a:avLst>
              <a:gd name="adj" fmla="val 2051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3504418" y="3541812"/>
            <a:ext cx="22440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↑ Productivity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04418" y="3915966"/>
            <a:ext cx="22440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Less downtime means more operational hours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1475" y="4659809"/>
            <a:ext cx="2556902" cy="1389459"/>
          </a:xfrm>
          <a:prstGeom prst="roundRect">
            <a:avLst>
              <a:gd name="adj" fmla="val 1690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817939" y="4816277"/>
            <a:ext cx="2243974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Faster Fault Detection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7939" y="5435005"/>
            <a:ext cx="22439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alerts at the earliest sign of anomaly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47954" y="4659809"/>
            <a:ext cx="2557002" cy="1389459"/>
          </a:xfrm>
          <a:prstGeom prst="roundRect">
            <a:avLst>
              <a:gd name="adj" fmla="val 1690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3504418" y="4816277"/>
            <a:ext cx="22440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📅</a:t>
            </a: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Timely Scheduling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04418" y="5190430"/>
            <a:ext cx="22440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Plan maintenance windows without disrupting production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93089" y="1475978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Suitable Application Areas</a:t>
            </a:r>
            <a:endParaRPr lang="en-US" sz="15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3089" y="1866305"/>
            <a:ext cx="391309" cy="39131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846419" y="1866305"/>
            <a:ext cx="1987401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Manufacturing Industries</a:t>
            </a:r>
            <a:endParaRPr lang="en-US" sz="15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5840" y="1866305"/>
            <a:ext cx="391309" cy="391319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9549169" y="1866305"/>
            <a:ext cx="198740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Production Plants</a:t>
            </a:r>
            <a:endParaRPr lang="en-US" sz="15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3089" y="2614712"/>
            <a:ext cx="391309" cy="39131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46419" y="2614712"/>
            <a:ext cx="198740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Warehouses</a:t>
            </a:r>
            <a:endParaRPr lang="en-US" sz="15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95840" y="2614712"/>
            <a:ext cx="391309" cy="39131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549169" y="2614712"/>
            <a:ext cx="198740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Energy Facilities</a:t>
            </a:r>
            <a:endParaRPr lang="en-US" sz="15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3089" y="3265289"/>
            <a:ext cx="391309" cy="391319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846419" y="3265289"/>
            <a:ext cx="1987401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Industrial Automation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9976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Conclusion and Future Impact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1202432"/>
            <a:ext cx="629686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Industrial IoT-based machine health monitoring and predictive maintenance system represents a fundamental shift in how industries manage equipment reliability. By combining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and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early fault detection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the system minimizes unexpected breakdowns and supports timely, targeted maintenance.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233360" y="2115741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5375041" y="2257425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75041" y="2542580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Consistent machine health tracking ensures assets perform at their best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33360" y="2988965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5375041" y="3130649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Productivity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375041" y="3415804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Fewer unplanned stoppages translate directly into more operational output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33360" y="3862189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5375041" y="4003873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Cost Reduction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375041" y="4289028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Intelligent maintenance scheduling eliminates wasteful reactive repairs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233360" y="4735413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5375041" y="4877098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Industry 4.0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375041" y="5162252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connected, data-driven maintenance ecosystem ready for the future of manufacturing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45981" y="5741491"/>
            <a:ext cx="608423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Transforming traditional maintenance into intelligent predictive maintenance — keeping machines running, industries thriving, and the future of Industry 4.0 within reach.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33360" y="5621933"/>
            <a:ext cx="19050" cy="635992"/>
          </a:xfrm>
          <a:prstGeom prst="roundRect">
            <a:avLst>
              <a:gd name="adj" fmla="val 49999"/>
            </a:avLst>
          </a:prstGeom>
          <a:solidFill>
            <a:srgbClr val="1C977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750</Words>
  <Application>Microsoft Office PowerPoint</Application>
  <PresentationFormat>Widescreen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Twemoji Mozilla</vt:lpstr>
      <vt:lpstr>Inter Medium</vt:lpstr>
      <vt:lpstr>Arial</vt:lpstr>
      <vt:lpstr>DM Sans SemiBold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3</cp:revision>
  <dcterms:created xsi:type="dcterms:W3CDTF">2026-08-19T06:10:02Z</dcterms:created>
  <dcterms:modified xsi:type="dcterms:W3CDTF">2026-10-04T18:17:11Z</dcterms:modified>
</cp:coreProperties>
</file>